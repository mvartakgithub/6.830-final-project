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5" r:id="rId4"/>
    <p:sldId id="258" r:id="rId5"/>
    <p:sldId id="259" r:id="rId6"/>
    <p:sldId id="262" r:id="rId7"/>
    <p:sldId id="266" r:id="rId8"/>
    <p:sldId id="267" r:id="rId9"/>
    <p:sldId id="268" r:id="rId10"/>
    <p:sldId id="264" r:id="rId11"/>
    <p:sldId id="269" r:id="rId1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6" d="100"/>
          <a:sy n="96" d="100"/>
        </p:scale>
        <p:origin x="-1160" y="-1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interSettings" Target="printerSettings/printerSettings1.bin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ctrTitle"/>
          </p:nvPr>
        </p:nvSpPr>
        <p:spPr>
          <a:xfrm>
            <a:off x="533400" y="1371600"/>
            <a:ext cx="7851648" cy="1828800"/>
          </a:xfrm>
          <a:ln>
            <a:noFill/>
          </a:ln>
        </p:spPr>
        <p:txBody>
          <a:bodyPr vert="horz" tIns="0" rIns="18288" bIns="0" anchor="b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  <a:contourClr>
                <a:schemeClr val="tx2"/>
              </a:contourClr>
            </a:sp3d>
          </a:bodyPr>
          <a:lstStyle>
            <a:lvl1pPr algn="r" rtl="0">
              <a:spcBef>
                <a:spcPct val="0"/>
              </a:spcBef>
              <a:buNone/>
              <a:defRPr sz="5600" b="1">
                <a:ln>
                  <a:noFill/>
                </a:ln>
                <a:solidFill>
                  <a:schemeClr val="accent3">
                    <a:tint val="90000"/>
                    <a:satMod val="120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7" name="Subtitle 16"/>
          <p:cNvSpPr>
            <a:spLocks noGrp="1"/>
          </p:cNvSpPr>
          <p:nvPr>
            <p:ph type="subTitle" idx="1"/>
          </p:nvPr>
        </p:nvSpPr>
        <p:spPr>
          <a:xfrm>
            <a:off x="533400" y="3228536"/>
            <a:ext cx="7854696" cy="1752600"/>
          </a:xfrm>
        </p:spPr>
        <p:txBody>
          <a:bodyPr lIns="0" rIns="18288"/>
          <a:lstStyle>
            <a:lvl1pPr marL="0" marR="45720" indent="0" algn="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sp>
        <p:nvSpPr>
          <p:cNvPr id="30" name="Date Placeholder 2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CA7E7-F094-4760-8873-A5CD40D87982}" type="datetimeFigureOut">
              <a:rPr lang="en-US" smtClean="0"/>
              <a:pPr/>
              <a:t>5/16/12</a:t>
            </a:fld>
            <a:endParaRPr lang="en-US"/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7" name="Slide Number Placeholder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DF2F8E-81E3-4A61-997C-E8A700E82CA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CA7E7-F094-4760-8873-A5CD40D87982}" type="datetimeFigureOut">
              <a:rPr lang="en-US" smtClean="0"/>
              <a:pPr/>
              <a:t>5/16/12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DF2F8E-81E3-4A61-997C-E8A700E82CA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52" y="1316736"/>
            <a:ext cx="7772400" cy="1362456"/>
          </a:xfrm>
          <a:ln>
            <a:noFill/>
          </a:ln>
        </p:spPr>
        <p:txBody>
          <a:bodyPr vert="horz" tIns="0" bIns="0" anchor="b">
            <a:no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</a:sp3d>
          </a:bodyPr>
          <a:lstStyle>
            <a:lvl1pPr algn="l" rtl="0">
              <a:spcBef>
                <a:spcPct val="0"/>
              </a:spcBef>
              <a:buNone/>
              <a:defRPr lang="en-US" sz="5600" b="1" cap="none" baseline="0" dirty="0">
                <a:ln w="635">
                  <a:noFill/>
                </a:ln>
                <a:solidFill>
                  <a:schemeClr val="accent4">
                    <a:tint val="90000"/>
                    <a:satMod val="125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52" y="2704664"/>
            <a:ext cx="7772400" cy="1509712"/>
          </a:xfrm>
        </p:spPr>
        <p:txBody>
          <a:bodyPr lIns="45720" rIns="45720" anchor="t"/>
          <a:lstStyle>
            <a:lvl1pPr marL="0" indent="0">
              <a:buNone/>
              <a:defRPr sz="22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CA7E7-F094-4760-8873-A5CD40D87982}" type="datetimeFigureOut">
              <a:rPr lang="en-US" smtClean="0"/>
              <a:pPr/>
              <a:t>5/16/12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DF2F8E-81E3-4A61-997C-E8A700E82CA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</p:spPr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920085"/>
            <a:ext cx="4038600" cy="443484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920085"/>
            <a:ext cx="4038600" cy="443484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CA7E7-F094-4760-8873-A5CD40D87982}" type="datetimeFigureOut">
              <a:rPr lang="en-US" smtClean="0"/>
              <a:pPr/>
              <a:t>5/16/12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DF2F8E-81E3-4A61-997C-E8A700E82CA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</p:spPr>
        <p:txBody>
          <a:bodyPr tIns="45720" anchor="b"/>
          <a:lstStyle>
            <a:lvl1pPr>
              <a:defRPr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855248"/>
            <a:ext cx="4040188" cy="659352"/>
          </a:xfrm>
        </p:spPr>
        <p:txBody>
          <a:bodyPr lIns="45720" tIns="0" rIns="45720" bIns="0" anchor="ctr">
            <a:noAutofit/>
          </a:bodyPr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5025" y="1859757"/>
            <a:ext cx="4041775" cy="654843"/>
          </a:xfrm>
        </p:spPr>
        <p:txBody>
          <a:bodyPr lIns="45720" tIns="0" rIns="45720" bIns="0" anchor="ctr"/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457200" y="2514600"/>
            <a:ext cx="4040188" cy="384572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514600"/>
            <a:ext cx="4041775" cy="384572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CA7E7-F094-4760-8873-A5CD40D87982}" type="datetimeFigureOut">
              <a:rPr lang="en-US" smtClean="0"/>
              <a:pPr/>
              <a:t>5/16/12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DF2F8E-81E3-4A61-997C-E8A700E82CA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04088"/>
            <a:ext cx="8305800" cy="1143000"/>
          </a:xfrm>
        </p:spPr>
        <p:txBody>
          <a:bodyPr vert="horz" tIns="45720" bIns="0" anchor="b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contourClr>
                <a:schemeClr val="tx2"/>
              </a:contourClr>
            </a:sp3d>
          </a:bodyPr>
          <a:lstStyle>
            <a:lvl1pPr algn="l" rtl="0">
              <a:spcBef>
                <a:spcPct val="0"/>
              </a:spcBef>
              <a:buNone/>
              <a:defRPr sz="50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CA7E7-F094-4760-8873-A5CD40D87982}" type="datetimeFigureOut">
              <a:rPr lang="en-US" smtClean="0"/>
              <a:pPr/>
              <a:t>5/16/12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DF2F8E-81E3-4A61-997C-E8A700E82CA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CA7E7-F094-4760-8873-A5CD40D87982}" type="datetimeFigureOut">
              <a:rPr lang="en-US" smtClean="0"/>
              <a:pPr/>
              <a:t>5/16/12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DF2F8E-81E3-4A61-997C-E8A700E82CA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514352"/>
            <a:ext cx="2743200" cy="1162050"/>
          </a:xfrm>
        </p:spPr>
        <p:txBody>
          <a:bodyPr lIns="0" anchor="b">
            <a:noAutofit/>
          </a:bodyPr>
          <a:lstStyle>
            <a:lvl1pPr algn="l" rtl="0">
              <a:spcBef>
                <a:spcPct val="0"/>
              </a:spcBef>
              <a:buNone/>
              <a:defRPr sz="26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85800" y="1676400"/>
            <a:ext cx="2743200" cy="4572000"/>
          </a:xfrm>
        </p:spPr>
        <p:txBody>
          <a:bodyPr lIns="18288" rIns="18288"/>
          <a:lstStyle>
            <a:lvl1pPr marL="0" indent="0" algn="l">
              <a:buNone/>
              <a:defRPr sz="1400"/>
            </a:lvl1pPr>
            <a:lvl2pPr indent="0" algn="l">
              <a:buNone/>
              <a:defRPr sz="1200"/>
            </a:lvl2pPr>
            <a:lvl3pPr indent="0" algn="l">
              <a:buNone/>
              <a:defRPr sz="1000"/>
            </a:lvl3pPr>
            <a:lvl4pPr indent="0" algn="l">
              <a:buNone/>
              <a:defRPr sz="900"/>
            </a:lvl4pPr>
            <a:lvl5pPr indent="0" algn="l">
              <a:buNone/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3575050" y="1676400"/>
            <a:ext cx="5111750" cy="4572000"/>
          </a:xfrm>
        </p:spPr>
        <p:txBody>
          <a:bodyPr tIns="0"/>
          <a:lstStyle>
            <a:lvl1pPr>
              <a:defRPr sz="2800"/>
            </a:lvl1pPr>
            <a:lvl2pPr>
              <a:defRPr sz="2600"/>
            </a:lvl2pPr>
            <a:lvl3pPr>
              <a:defRPr sz="2400"/>
            </a:lvl3pPr>
            <a:lvl4pPr>
              <a:defRPr sz="2000"/>
            </a:lvl4pPr>
            <a:lvl5pPr>
              <a:defRPr sz="18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CA7E7-F094-4760-8873-A5CD40D87982}" type="datetimeFigureOut">
              <a:rPr lang="en-US" smtClean="0"/>
              <a:pPr/>
              <a:t>5/16/12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DF2F8E-81E3-4A61-997C-E8A700E82CA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nip and Round Single Corner Rectangle 8"/>
          <p:cNvSpPr/>
          <p:nvPr/>
        </p:nvSpPr>
        <p:spPr>
          <a:xfrm rot="420000" flipV="1">
            <a:off x="3165753" y="1108077"/>
            <a:ext cx="5257800" cy="4114800"/>
          </a:xfrm>
          <a:prstGeom prst="snipRoundRect">
            <a:avLst>
              <a:gd name="adj1" fmla="val 0"/>
              <a:gd name="adj2" fmla="val 3646"/>
            </a:avLst>
          </a:prstGeom>
          <a:solidFill>
            <a:srgbClr val="FFFFFF"/>
          </a:solidFill>
          <a:ln w="3175" cap="rnd" cmpd="sng" algn="ctr">
            <a:solidFill>
              <a:srgbClr val="C0C0C0"/>
            </a:solidFill>
            <a:prstDash val="solid"/>
          </a:ln>
          <a:effectLst>
            <a:outerShdw blurRad="63500" dist="38500" dir="7500000" sx="98500" sy="100080" kx="100000" algn="tl" rotWithShape="0">
              <a:srgbClr val="000000">
                <a:alpha val="25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Right Triangle 11"/>
          <p:cNvSpPr/>
          <p:nvPr/>
        </p:nvSpPr>
        <p:spPr>
          <a:xfrm rot="420000" flipV="1">
            <a:off x="8004134" y="5359769"/>
            <a:ext cx="155448" cy="155448"/>
          </a:xfrm>
          <a:prstGeom prst="rtTriangle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bevel/>
          </a:ln>
          <a:effectLst>
            <a:outerShdw blurRad="19685" dist="6350" dir="12900000" algn="tl" rotWithShape="0">
              <a:srgbClr val="000000">
                <a:alpha val="47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176996"/>
            <a:ext cx="2212848" cy="1582621"/>
          </a:xfrm>
        </p:spPr>
        <p:txBody>
          <a:bodyPr vert="horz" lIns="45720" tIns="45720" rIns="45720" bIns="45720" anchor="b"/>
          <a:lstStyle>
            <a:lvl1pPr algn="l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2828785"/>
            <a:ext cx="2209800" cy="2179320"/>
          </a:xfrm>
        </p:spPr>
        <p:txBody>
          <a:bodyPr lIns="64008" rIns="45720" bIns="45720" anchor="t"/>
          <a:lstStyle>
            <a:lvl1pPr marL="0" indent="0" algn="l">
              <a:spcBef>
                <a:spcPts val="250"/>
              </a:spcBef>
              <a:buFontTx/>
              <a:buNone/>
              <a:defRPr sz="13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CA7E7-F094-4760-8873-A5CD40D87982}" type="datetimeFigureOut">
              <a:rPr lang="en-US" smtClean="0"/>
              <a:pPr/>
              <a:t>5/16/12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77200" y="6356350"/>
            <a:ext cx="609600" cy="365125"/>
          </a:xfrm>
        </p:spPr>
        <p:txBody>
          <a:bodyPr/>
          <a:lstStyle/>
          <a:p>
            <a:fld id="{CCDF2F8E-81E3-4A61-997C-E8A700E82CA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 rot="420000">
            <a:off x="3485793" y="1199517"/>
            <a:ext cx="4617720" cy="3931920"/>
          </a:xfrm>
          <a:prstGeom prst="rect">
            <a:avLst/>
          </a:prstGeom>
          <a:solidFill>
            <a:schemeClr val="bg2"/>
          </a:solidFill>
          <a:ln w="3000" cap="rnd">
            <a:solidFill>
              <a:srgbClr val="C0C0C0"/>
            </a:solidFill>
            <a:round/>
          </a:ln>
          <a:effectLst/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10" name="Freeform 9"/>
          <p:cNvSpPr>
            <a:spLocks/>
          </p:cNvSpPr>
          <p:nvPr/>
        </p:nvSpPr>
        <p:spPr bwMode="auto">
          <a:xfrm flipV="1">
            <a:off x="-9525" y="5816600"/>
            <a:ext cx="9163050" cy="104140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Freeform 10"/>
          <p:cNvSpPr>
            <a:spLocks/>
          </p:cNvSpPr>
          <p:nvPr/>
        </p:nvSpPr>
        <p:spPr bwMode="auto">
          <a:xfrm flipV="1">
            <a:off x="4381500" y="6219825"/>
            <a:ext cx="4762500" cy="638175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CA7E7-F094-4760-8873-A5CD40D87982}" type="datetimeFigureOut">
              <a:rPr lang="en-US" smtClean="0"/>
              <a:pPr/>
              <a:t>5/16/12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DF2F8E-81E3-4A61-997C-E8A700E82CA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914401"/>
            <a:ext cx="2057400" cy="5211763"/>
          </a:xfrm>
        </p:spPr>
        <p:txBody>
          <a:bodyPr vert="eaVert"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914401"/>
            <a:ext cx="6019800" cy="5211763"/>
          </a:xfrm>
        </p:spPr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CA7E7-F094-4760-8873-A5CD40D87982}" type="datetimeFigureOut">
              <a:rPr lang="en-US" smtClean="0"/>
              <a:pPr/>
              <a:t>5/16/12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DF2F8E-81E3-4A61-997C-E8A700E82CA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>
            <a:spLocks/>
          </p:cNvSpPr>
          <p:nvPr/>
        </p:nvSpPr>
        <p:spPr bwMode="auto">
          <a:xfrm>
            <a:off x="-9525" y="-7144"/>
            <a:ext cx="9163050" cy="104140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Freeform 7"/>
          <p:cNvSpPr>
            <a:spLocks/>
          </p:cNvSpPr>
          <p:nvPr/>
        </p:nvSpPr>
        <p:spPr bwMode="auto">
          <a:xfrm>
            <a:off x="4381500" y="-7144"/>
            <a:ext cx="4762500" cy="638175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Title Placeholder 8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</p:spPr>
        <p:txBody>
          <a:bodyPr vert="horz" lIns="0" rIns="0" bIns="0" anchor="b">
            <a:normAutofit/>
          </a:bodyPr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0" name="Text Placeholder 29"/>
          <p:cNvSpPr>
            <a:spLocks noGrp="1"/>
          </p:cNvSpPr>
          <p:nvPr>
            <p:ph type="body" idx="1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fld id="{299CA7E7-F094-4760-8873-A5CD40D87982}" type="datetimeFigureOut">
              <a:rPr lang="en-US" smtClean="0"/>
              <a:pPr/>
              <a:t>5/16/12</a:t>
            </a:fld>
            <a:endParaRPr 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r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fld id="{CCDF2F8E-81E3-4A61-997C-E8A700E82CA4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2" name="Group 1"/>
          <p:cNvGrpSpPr/>
          <p:nvPr/>
        </p:nvGrpSpPr>
        <p:grpSpPr>
          <a:xfrm>
            <a:off x="-19017" y="202408"/>
            <a:ext cx="9180548" cy="649224"/>
            <a:chOff x="-19045" y="216550"/>
            <a:chExt cx="9180548" cy="649224"/>
          </a:xfrm>
        </p:grpSpPr>
        <p:sp>
          <p:nvSpPr>
            <p:cNvPr id="12" name="Freeform 11"/>
            <p:cNvSpPr>
              <a:spLocks/>
            </p:cNvSpPr>
            <p:nvPr/>
          </p:nvSpPr>
          <p:spPr bwMode="auto">
            <a:xfrm rot="21435692">
              <a:off x="-19045" y="216550"/>
              <a:ext cx="9163050" cy="649224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966"/>
                </a:cxn>
                <a:cxn ang="0">
                  <a:pos x="1608" y="282"/>
                </a:cxn>
                <a:cxn ang="0">
                  <a:pos x="4110" y="1008"/>
                </a:cxn>
                <a:cxn ang="0">
                  <a:pos x="5772" y="0"/>
                </a:cxn>
              </a:cxnLst>
              <a:rect l="0" t="0" r="0" b="0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 cap="flat" cmpd="sng" algn="ctr">
              <a:gradFill>
                <a:gsLst>
                  <a:gs pos="74000">
                    <a:schemeClr val="accent3">
                      <a:shade val="75000"/>
                    </a:schemeClr>
                  </a:gs>
                  <a:gs pos="86000">
                    <a:schemeClr val="tx1">
                      <a:alpha val="29000"/>
                    </a:schemeClr>
                  </a:gs>
                  <a:gs pos="16000">
                    <a:schemeClr val="accent2">
                      <a:shade val="75000"/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  <p:sp>
          <p:nvSpPr>
            <p:cNvPr id="13" name="Freeform 12"/>
            <p:cNvSpPr>
              <a:spLocks/>
            </p:cNvSpPr>
            <p:nvPr/>
          </p:nvSpPr>
          <p:spPr bwMode="auto">
            <a:xfrm rot="21435692">
              <a:off x="-14309" y="290003"/>
              <a:ext cx="9175812" cy="530352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732"/>
                </a:cxn>
                <a:cxn ang="0">
                  <a:pos x="1638" y="228"/>
                </a:cxn>
                <a:cxn ang="0">
                  <a:pos x="4122" y="816"/>
                </a:cxn>
                <a:cxn ang="0">
                  <a:pos x="5766" y="0"/>
                </a:cxn>
              </a:cxnLst>
              <a:rect l="0" t="0" r="0" b="0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 cap="flat" cmpd="sng" algn="ctr">
              <a:gradFill>
                <a:gsLst>
                  <a:gs pos="74000">
                    <a:schemeClr val="accent4"/>
                  </a:gs>
                  <a:gs pos="44000">
                    <a:schemeClr val="accent1"/>
                  </a:gs>
                  <a:gs pos="33000">
                    <a:schemeClr val="accent2"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rtl="0" eaLnBrk="1" latinLnBrk="0" hangingPunct="1">
        <a:spcBef>
          <a:spcPct val="0"/>
        </a:spcBef>
        <a:buNone/>
        <a:defRPr kumimoji="0" sz="5000" b="0" kern="120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ct val="20000"/>
        </a:spcBef>
        <a:buClr>
          <a:schemeClr val="accent3"/>
        </a:buClr>
        <a:buSzPct val="95000"/>
        <a:buFont typeface="Wingdings 2"/>
        <a:buChar char="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46888" algn="l" rtl="0" eaLnBrk="1" latinLnBrk="0" hangingPunct="1">
        <a:spcBef>
          <a:spcPct val="20000"/>
        </a:spcBef>
        <a:buClr>
          <a:schemeClr val="accent1"/>
        </a:buClr>
        <a:buSzPct val="85000"/>
        <a:buFont typeface="Wingdings 2"/>
        <a:buChar char="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246888" algn="l" rtl="0" eaLnBrk="1" latinLnBrk="0" hangingPunct="1">
        <a:spcBef>
          <a:spcPct val="20000"/>
        </a:spcBef>
        <a:buClr>
          <a:schemeClr val="accent2"/>
        </a:buClr>
        <a:buSzPct val="70000"/>
        <a:buFont typeface="Wingdings 2"/>
        <a:buChar char="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88720" indent="-210312" algn="l" rtl="0" eaLnBrk="1" latinLnBrk="0" hangingPunct="1">
        <a:spcBef>
          <a:spcPct val="20000"/>
        </a:spcBef>
        <a:buClr>
          <a:schemeClr val="accent3"/>
        </a:buClr>
        <a:buSzPct val="65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463040" indent="-210312" algn="l" rtl="0" eaLnBrk="1" latinLnBrk="0" hangingPunct="1">
        <a:spcBef>
          <a:spcPct val="20000"/>
        </a:spcBef>
        <a:buClr>
          <a:schemeClr val="accent4"/>
        </a:buClr>
        <a:buSzPct val="65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210312" algn="l" rtl="0" eaLnBrk="1" latinLnBrk="0" hangingPunct="1">
        <a:spcBef>
          <a:spcPct val="20000"/>
        </a:spcBef>
        <a:buClr>
          <a:schemeClr val="accent5"/>
        </a:buClr>
        <a:buSzPct val="80000"/>
        <a:buFont typeface="Wingdings 2"/>
        <a:buChar char="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rtl="0" eaLnBrk="1" latinLnBrk="0" hangingPunct="1">
        <a:spcBef>
          <a:spcPct val="20000"/>
        </a:spcBef>
        <a:buClr>
          <a:schemeClr val="accent6"/>
        </a:buClr>
        <a:buSzPct val="80000"/>
        <a:buFont typeface="Wingdings 2"/>
        <a:buChar char="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94560" indent="-182880" algn="l" rtl="0" eaLnBrk="1" latinLnBrk="0" hangingPunct="1">
        <a:spcBef>
          <a:spcPct val="20000"/>
        </a:spcBef>
        <a:buClr>
          <a:schemeClr val="tx2"/>
        </a:buClr>
        <a:buChar char="•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indent="-182880" algn="l" rtl="0" eaLnBrk="1" latinLnBrk="0" hangingPunct="1">
        <a:spcBef>
          <a:spcPct val="20000"/>
        </a:spcBef>
        <a:buClr>
          <a:schemeClr val="tx2"/>
        </a:buClr>
        <a:buFontTx/>
        <a:buChar char="•"/>
        <a:defRPr kumimoji="0"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PubCrawl: A </a:t>
            </a:r>
            <a:r>
              <a:rPr lang="en-US" dirty="0" smtClean="0"/>
              <a:t>Publication Search </a:t>
            </a:r>
            <a:r>
              <a:rPr lang="en-US" dirty="0" smtClean="0"/>
              <a:t>Engine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90600" y="3886200"/>
            <a:ext cx="7086600" cy="1752600"/>
          </a:xfrm>
        </p:spPr>
        <p:txBody>
          <a:bodyPr/>
          <a:lstStyle/>
          <a:p>
            <a:r>
              <a:rPr lang="en-US" dirty="0" smtClean="0"/>
              <a:t>Frank Li, Abhishek Sarkar, Manasi Vartak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Motivation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Build an academic paper search engine system</a:t>
            </a:r>
          </a:p>
          <a:p>
            <a:endParaRPr lang="en-US" dirty="0"/>
          </a:p>
          <a:p>
            <a:r>
              <a:rPr lang="en-US" dirty="0" smtClean="0"/>
              <a:t>Investigate use of PageRank in paper data set to measure paper </a:t>
            </a:r>
            <a:r>
              <a:rPr lang="en-US" dirty="0" smtClean="0"/>
              <a:t>importance</a:t>
            </a:r>
          </a:p>
          <a:p>
            <a:endParaRPr lang="en-US" dirty="0" smtClean="0"/>
          </a:p>
          <a:p>
            <a:r>
              <a:rPr lang="en-US" dirty="0" smtClean="0"/>
              <a:t>Employ </a:t>
            </a:r>
            <a:r>
              <a:rPr lang="en-US" dirty="0" err="1" smtClean="0"/>
              <a:t>Lucene</a:t>
            </a:r>
            <a:r>
              <a:rPr lang="en-US" dirty="0" smtClean="0"/>
              <a:t> text indexing to find relevant documents</a:t>
            </a:r>
          </a:p>
          <a:p>
            <a:endParaRPr lang="en-US" dirty="0" smtClean="0"/>
          </a:p>
          <a:p>
            <a:r>
              <a:rPr lang="en-US" dirty="0" smtClean="0"/>
              <a:t>Intelligently combine text indexing and PageRank to improve paper rankings</a:t>
            </a:r>
            <a:endParaRPr lang="en-US" dirty="0" smtClean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Overview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Obtained full data set from ACM Digital Library</a:t>
            </a:r>
          </a:p>
          <a:p>
            <a:endParaRPr lang="en-US" dirty="0"/>
          </a:p>
          <a:p>
            <a:r>
              <a:rPr lang="en-US" dirty="0" smtClean="0"/>
              <a:t>Used Apache Lucene for text indexing and </a:t>
            </a:r>
            <a:r>
              <a:rPr lang="en-US" dirty="0" smtClean="0"/>
              <a:t>adapted PageRank for the dataset</a:t>
            </a:r>
            <a:endParaRPr lang="en-US" dirty="0" smtClean="0"/>
          </a:p>
          <a:p>
            <a:endParaRPr lang="en-US" dirty="0"/>
          </a:p>
          <a:p>
            <a:r>
              <a:rPr lang="en-US" dirty="0" smtClean="0"/>
              <a:t>Built PubCrawl, an online paper search </a:t>
            </a:r>
            <a:r>
              <a:rPr lang="en-US" dirty="0" smtClean="0"/>
              <a:t>engine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ACM Data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223,800 papers</a:t>
            </a:r>
          </a:p>
          <a:p>
            <a:endParaRPr lang="en-US" dirty="0"/>
          </a:p>
          <a:p>
            <a:r>
              <a:rPr lang="en-US" dirty="0" smtClean="0"/>
              <a:t>Forms directed graph with paper nodes and citations as edges</a:t>
            </a:r>
          </a:p>
          <a:p>
            <a:endParaRPr lang="en-US" dirty="0"/>
          </a:p>
          <a:p>
            <a:r>
              <a:rPr lang="en-US" dirty="0" smtClean="0"/>
              <a:t>Complication characteristics:</a:t>
            </a:r>
          </a:p>
          <a:p>
            <a:pPr lvl="1"/>
            <a:r>
              <a:rPr lang="en-US" dirty="0" smtClean="0"/>
              <a:t>Cycles (affects PageRank function)</a:t>
            </a:r>
          </a:p>
          <a:p>
            <a:pPr lvl="1"/>
            <a:r>
              <a:rPr lang="en-US" smtClean="0"/>
              <a:t>Components (affects node initial scores)</a:t>
            </a:r>
            <a:endParaRPr lang="en-US" dirty="0" smtClean="0"/>
          </a:p>
          <a:p>
            <a:endParaRPr lang="en-US" dirty="0" smtClean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4" name="Picture 2" descr="ACM DL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86200" y="1295400"/>
            <a:ext cx="4771563" cy="1143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Adapted PageRank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buNone/>
            </a:pPr>
            <a:r>
              <a:rPr lang="en-US" sz="4000" dirty="0" smtClean="0"/>
              <a:t>Score S of paper p is:</a:t>
            </a:r>
          </a:p>
          <a:p>
            <a:pPr>
              <a:buNone/>
            </a:pPr>
            <a:endParaRPr lang="en-US" sz="1100" dirty="0" smtClean="0"/>
          </a:p>
          <a:p>
            <a:pPr>
              <a:buNone/>
            </a:pPr>
            <a:r>
              <a:rPr lang="en-US" sz="5700" dirty="0" smtClean="0"/>
              <a:t>S(p) = n (      + d ( ∑          +E(p)))</a:t>
            </a:r>
          </a:p>
          <a:p>
            <a:endParaRPr lang="en-US" sz="4400" dirty="0"/>
          </a:p>
          <a:p>
            <a:pPr>
              <a:buNone/>
            </a:pPr>
            <a:r>
              <a:rPr lang="en-US" sz="3400" dirty="0" smtClean="0"/>
              <a:t>Variables: </a:t>
            </a:r>
          </a:p>
          <a:p>
            <a:pPr>
              <a:buNone/>
            </a:pPr>
            <a:r>
              <a:rPr lang="en-US" sz="3400" dirty="0" smtClean="0"/>
              <a:t>n – normalization factor</a:t>
            </a:r>
          </a:p>
          <a:p>
            <a:pPr>
              <a:buNone/>
            </a:pPr>
            <a:r>
              <a:rPr lang="en-US" sz="3400" dirty="0" smtClean="0"/>
              <a:t>d – damping factor</a:t>
            </a:r>
          </a:p>
          <a:p>
            <a:pPr>
              <a:buNone/>
            </a:pPr>
            <a:r>
              <a:rPr lang="en-US" sz="3400" dirty="0" smtClean="0"/>
              <a:t>N – total number of papers</a:t>
            </a:r>
          </a:p>
          <a:p>
            <a:pPr>
              <a:buNone/>
            </a:pPr>
            <a:r>
              <a:rPr lang="en-US" sz="3400" dirty="0" smtClean="0"/>
              <a:t>C – set of papers that cite p</a:t>
            </a:r>
          </a:p>
          <a:p>
            <a:pPr>
              <a:buNone/>
            </a:pPr>
            <a:r>
              <a:rPr lang="en-US" sz="3400" dirty="0" smtClean="0"/>
              <a:t>D() – degree function (number of citations)</a:t>
            </a:r>
          </a:p>
          <a:p>
            <a:pPr>
              <a:buNone/>
            </a:pPr>
            <a:r>
              <a:rPr lang="en-US" sz="3400" dirty="0" smtClean="0"/>
              <a:t>E() – score source function</a:t>
            </a:r>
            <a:endParaRPr lang="en-US" sz="3400" dirty="0"/>
          </a:p>
        </p:txBody>
      </p:sp>
      <p:sp>
        <p:nvSpPr>
          <p:cNvPr id="5" name="TextBox 4"/>
          <p:cNvSpPr txBox="1"/>
          <p:nvPr/>
        </p:nvSpPr>
        <p:spPr>
          <a:xfrm>
            <a:off x="2514600" y="2351782"/>
            <a:ext cx="10668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u="sng" dirty="0" smtClean="0"/>
              <a:t>1 - d</a:t>
            </a:r>
          </a:p>
          <a:p>
            <a:r>
              <a:rPr lang="en-US" sz="3200" dirty="0" smtClean="0"/>
              <a:t>  N</a:t>
            </a:r>
            <a:endParaRPr lang="en-US" sz="320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0" y="2351782"/>
            <a:ext cx="10668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u="sng" dirty="0" smtClean="0"/>
              <a:t>S(c) </a:t>
            </a:r>
          </a:p>
          <a:p>
            <a:r>
              <a:rPr lang="en-US" sz="3200" dirty="0" smtClean="0"/>
              <a:t>D(c)</a:t>
            </a:r>
            <a:endParaRPr lang="en-US" sz="3200" dirty="0"/>
          </a:p>
        </p:txBody>
      </p:sp>
      <p:sp>
        <p:nvSpPr>
          <p:cNvPr id="7" name="TextBox 6"/>
          <p:cNvSpPr txBox="1"/>
          <p:nvPr/>
        </p:nvSpPr>
        <p:spPr>
          <a:xfrm>
            <a:off x="4267200" y="2895600"/>
            <a:ext cx="838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c</a:t>
            </a:r>
            <a:r>
              <a:rPr lang="el-GR" sz="3200" dirty="0" smtClean="0"/>
              <a:t>ϵ</a:t>
            </a:r>
            <a:r>
              <a:rPr lang="en-US" sz="3200" dirty="0" smtClean="0"/>
              <a:t>C</a:t>
            </a:r>
            <a:endParaRPr lang="en-US" sz="3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PubCrawl</a:t>
            </a:r>
            <a:r>
              <a:rPr lang="en-US" dirty="0" smtClean="0"/>
              <a:t> - Overview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Online search engine website</a:t>
            </a:r>
          </a:p>
          <a:p>
            <a:endParaRPr lang="en-US" dirty="0" smtClean="0"/>
          </a:p>
          <a:p>
            <a:r>
              <a:rPr lang="en-US" dirty="0" smtClean="0"/>
              <a:t>Django Web Framework, Postgres database</a:t>
            </a:r>
          </a:p>
          <a:p>
            <a:endParaRPr lang="en-US" dirty="0" smtClean="0"/>
          </a:p>
          <a:p>
            <a:r>
              <a:rPr lang="en-US" dirty="0" smtClean="0"/>
              <a:t>Allows users to </a:t>
            </a:r>
            <a:r>
              <a:rPr lang="en-US" dirty="0" smtClean="0"/>
              <a:t>adjust </a:t>
            </a:r>
            <a:r>
              <a:rPr lang="en-US" dirty="0" smtClean="0"/>
              <a:t>weights of pagerank score and Lucene index scores</a:t>
            </a:r>
          </a:p>
          <a:p>
            <a:endParaRPr lang="en-US" dirty="0" smtClean="0"/>
          </a:p>
          <a:p>
            <a:r>
              <a:rPr lang="en-US" dirty="0" smtClean="0"/>
              <a:t>Outputs paper titles, abstract, link to ACM DL page, and the score components.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PubCrawl</a:t>
            </a:r>
            <a:r>
              <a:rPr lang="en-US" dirty="0" smtClean="0"/>
              <a:t> - Scores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Scores:</a:t>
            </a:r>
          </a:p>
          <a:p>
            <a:pPr lvl="1"/>
            <a:r>
              <a:rPr lang="en-US" dirty="0" smtClean="0"/>
              <a:t>PageRank</a:t>
            </a:r>
          </a:p>
          <a:p>
            <a:pPr lvl="1"/>
            <a:r>
              <a:rPr lang="en-US" dirty="0" err="1" smtClean="0"/>
              <a:t>Fulltext</a:t>
            </a:r>
            <a:r>
              <a:rPr lang="en-US" dirty="0" smtClean="0"/>
              <a:t> index score</a:t>
            </a:r>
          </a:p>
          <a:p>
            <a:pPr lvl="1"/>
            <a:r>
              <a:rPr lang="en-US" dirty="0" smtClean="0"/>
              <a:t>Title score</a:t>
            </a:r>
          </a:p>
          <a:p>
            <a:pPr lvl="1"/>
            <a:r>
              <a:rPr lang="en-US" dirty="0" smtClean="0"/>
              <a:t>Abstract score</a:t>
            </a:r>
          </a:p>
          <a:p>
            <a:r>
              <a:rPr lang="en-US" dirty="0" smtClean="0"/>
              <a:t>Scale scores:</a:t>
            </a:r>
          </a:p>
          <a:p>
            <a:pPr lvl="1"/>
            <a:r>
              <a:rPr lang="en-US" dirty="0" smtClean="0"/>
              <a:t>Generic score scaling doesn’t help (papers about some topics have few citations)</a:t>
            </a:r>
          </a:p>
          <a:p>
            <a:pPr lvl="1"/>
            <a:r>
              <a:rPr lang="en-US" dirty="0" smtClean="0"/>
              <a:t>Per-query scaling improves results</a:t>
            </a:r>
          </a:p>
        </p:txBody>
      </p:sp>
    </p:spTree>
    <p:extLst>
      <p:ext uri="{BB962C8B-B14F-4D97-AF65-F5344CB8AC3E}">
        <p14:creationId xmlns:p14="http://schemas.microsoft.com/office/powerpoint/2010/main" val="39246821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PubCrawl</a:t>
            </a:r>
            <a:r>
              <a:rPr lang="en-US" dirty="0" smtClean="0"/>
              <a:t> - Ranking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Ranking:</a:t>
            </a:r>
          </a:p>
          <a:p>
            <a:pPr lvl="1"/>
            <a:r>
              <a:rPr lang="en-US" dirty="0" smtClean="0"/>
              <a:t>2-factor: Doc score + PageRank</a:t>
            </a:r>
          </a:p>
          <a:p>
            <a:pPr lvl="2"/>
            <a:r>
              <a:rPr lang="en-US" dirty="0" smtClean="0"/>
              <a:t>Simple sorting via doc </a:t>
            </a:r>
            <a:r>
              <a:rPr lang="en-US" dirty="0" err="1" smtClean="0"/>
              <a:t>score+pagerank</a:t>
            </a:r>
            <a:endParaRPr lang="en-US" dirty="0" smtClean="0"/>
          </a:p>
          <a:p>
            <a:pPr lvl="1"/>
            <a:r>
              <a:rPr lang="en-US" dirty="0" smtClean="0"/>
              <a:t>4-factor: </a:t>
            </a:r>
          </a:p>
          <a:p>
            <a:pPr lvl="2"/>
            <a:r>
              <a:rPr lang="en-US" dirty="0" err="1" smtClean="0"/>
              <a:t>RankJoin</a:t>
            </a:r>
            <a:r>
              <a:rPr lang="en-US" dirty="0" smtClean="0"/>
              <a:t> to combine title, doc, abstract, </a:t>
            </a:r>
            <a:r>
              <a:rPr lang="en-US" dirty="0" err="1" smtClean="0"/>
              <a:t>pagerank</a:t>
            </a:r>
            <a:endParaRPr lang="en-US" dirty="0" smtClean="0"/>
          </a:p>
          <a:p>
            <a:pPr lvl="3"/>
            <a:r>
              <a:rPr lang="en-US" dirty="0" smtClean="0"/>
              <a:t>Sorted lists</a:t>
            </a:r>
          </a:p>
          <a:p>
            <a:pPr lvl="3"/>
            <a:r>
              <a:rPr lang="en-US" dirty="0" smtClean="0"/>
              <a:t>Round-robin visits to each list</a:t>
            </a:r>
          </a:p>
          <a:p>
            <a:pPr lvl="3"/>
            <a:r>
              <a:rPr lang="en-US" dirty="0" smtClean="0"/>
              <a:t>Stop when min of top is more than max of unseen results</a:t>
            </a:r>
          </a:p>
          <a:p>
            <a:pPr lvl="2"/>
            <a:r>
              <a:rPr lang="en-US" dirty="0" smtClean="0"/>
              <a:t>Challenges:</a:t>
            </a:r>
          </a:p>
          <a:p>
            <a:pPr lvl="3"/>
            <a:r>
              <a:rPr lang="en-US" dirty="0" smtClean="0"/>
              <a:t>Missing fields and scaling</a:t>
            </a: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13554159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Preliminary Studies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Google Scholar, </a:t>
            </a:r>
            <a:r>
              <a:rPr lang="en-US" dirty="0" err="1" smtClean="0"/>
              <a:t>CiteSeer</a:t>
            </a:r>
            <a:r>
              <a:rPr lang="en-US" dirty="0" smtClean="0"/>
              <a:t>, Microsoft Academic Search, ACM DL and </a:t>
            </a:r>
            <a:r>
              <a:rPr lang="en-US" dirty="0" err="1" smtClean="0"/>
              <a:t>PubCrawl</a:t>
            </a:r>
            <a:endParaRPr lang="en-US" dirty="0" smtClean="0"/>
          </a:p>
          <a:p>
            <a:r>
              <a:rPr lang="en-US" dirty="0" smtClean="0"/>
              <a:t>Ground truth from DB experts </a:t>
            </a:r>
            <a:r>
              <a:rPr lang="en-US" dirty="0" smtClean="0">
                <a:sym typeface="Wingdings"/>
              </a:rPr>
              <a:t></a:t>
            </a:r>
            <a:endParaRPr lang="en-US" dirty="0" smtClean="0"/>
          </a:p>
          <a:p>
            <a:r>
              <a:rPr lang="en-US" dirty="0" smtClean="0"/>
              <a:t>Topics: Parallel Databases, Stream processing, Provenance, </a:t>
            </a:r>
            <a:r>
              <a:rPr lang="en-US" dirty="0" err="1" smtClean="0"/>
              <a:t>NoSQL</a:t>
            </a:r>
            <a:r>
              <a:rPr lang="en-US" dirty="0" smtClean="0"/>
              <a:t>, Twitter, Crowdsourcing</a:t>
            </a:r>
          </a:p>
          <a:p>
            <a:r>
              <a:rPr lang="en-US" dirty="0" smtClean="0"/>
              <a:t>Challenges:</a:t>
            </a:r>
          </a:p>
          <a:p>
            <a:pPr lvl="1"/>
            <a:r>
              <a:rPr lang="en-US" dirty="0" smtClean="0"/>
              <a:t>Non-ACM papers (Provenance: Springer, TAPP, CIDR)</a:t>
            </a:r>
          </a:p>
          <a:p>
            <a:pPr lvl="1"/>
            <a:r>
              <a:rPr lang="en-US" dirty="0" smtClean="0"/>
              <a:t>Ground truth doesn’t match searches</a:t>
            </a:r>
          </a:p>
          <a:p>
            <a:pPr lvl="1"/>
            <a:r>
              <a:rPr lang="en-US" dirty="0" smtClean="0"/>
              <a:t>Ground truth subjective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198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Conclusion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ACM data has interesting features that require adaptation to PageRank.</a:t>
            </a:r>
          </a:p>
          <a:p>
            <a:endParaRPr lang="en-US" dirty="0" smtClean="0"/>
          </a:p>
          <a:p>
            <a:r>
              <a:rPr lang="en-US" dirty="0" smtClean="0"/>
              <a:t>Different weightings result in wildly different rankings</a:t>
            </a:r>
          </a:p>
          <a:p>
            <a:endParaRPr lang="en-US" dirty="0" smtClean="0"/>
          </a:p>
          <a:p>
            <a:r>
              <a:rPr lang="en-US" b="1" u="sng" dirty="0" smtClean="0"/>
              <a:t>Difficult to identify weights that work across the board</a:t>
            </a:r>
            <a:endParaRPr lang="en-US" b="1" u="sng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Future Work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Automatically find weights for papers based on training data for relevant papers</a:t>
            </a:r>
          </a:p>
          <a:p>
            <a:pPr lvl="1"/>
            <a:r>
              <a:rPr lang="en-US" dirty="0" smtClean="0"/>
              <a:t>SVM</a:t>
            </a:r>
          </a:p>
          <a:p>
            <a:r>
              <a:rPr lang="en-US" dirty="0"/>
              <a:t>User study framework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239743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Flow">
  <a:themeElements>
    <a:clrScheme name="Flow">
      <a:dk1>
        <a:sysClr val="windowText" lastClr="000000"/>
      </a:dk1>
      <a:lt1>
        <a:sysClr val="window" lastClr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Flow">
      <a:majorFont>
        <a:latin typeface="Calibri"/>
        <a:ea typeface=""/>
        <a:cs typeface=""/>
        <a:font script="Jpan" typeface="ＭＳ Ｐゴシック"/>
        <a:font script="Hang" typeface="HY중고딕"/>
        <a:font script="Hans" typeface="隶书"/>
        <a:font script="Hant" typeface="微軟正黑體"/>
        <a:font script="Arab" typeface="Traditional Arabic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Constantia"/>
        <a:ea typeface=""/>
        <a:cs typeface=""/>
        <a:font script="Jpan" typeface="HGP明朝E"/>
        <a:font script="Hang" typeface="HY신명조"/>
        <a:font script="Hans" typeface="宋体"/>
        <a:font script="Hant" typeface="新細明體"/>
        <a:font script="Arab" typeface="Majalla UI"/>
        <a:font script="Hebr" typeface="David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Flow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30000"/>
              </a:schemeClr>
            </a:gs>
            <a:gs pos="43000">
              <a:schemeClr val="phClr">
                <a:tint val="44000"/>
                <a:satMod val="165000"/>
              </a:schemeClr>
            </a:gs>
            <a:gs pos="93000">
              <a:schemeClr val="phClr">
                <a:tint val="15000"/>
                <a:satMod val="165000"/>
              </a:schemeClr>
            </a:gs>
            <a:gs pos="100000">
              <a:schemeClr val="phClr">
                <a:tint val="5000"/>
                <a:satMod val="250000"/>
              </a:schemeClr>
            </a:gs>
          </a:gsLst>
          <a:path path="circle">
            <a:fillToRect l="50000" t="130000" r="50000" b="-30000"/>
          </a:path>
        </a:gradFill>
        <a:gradFill rotWithShape="1">
          <a:gsLst>
            <a:gs pos="0">
              <a:schemeClr val="phClr">
                <a:tint val="98000"/>
                <a:shade val="25000"/>
                <a:satMod val="250000"/>
              </a:schemeClr>
            </a:gs>
            <a:gs pos="68000">
              <a:schemeClr val="phClr">
                <a:tint val="86000"/>
                <a:satMod val="115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</a:fillStyleLst>
      <a:lnStyleLst>
        <a:ln w="9525" cap="flat" cmpd="sng" algn="ctr">
          <a:solidFill>
            <a:schemeClr val="phClr">
              <a:shade val="50000"/>
              <a:satMod val="103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  <a:scene3d>
            <a:camera prst="orthographicFront" fov="0">
              <a:rot lat="0" lon="0" rev="0"/>
            </a:camera>
            <a:lightRig rig="glow" dir="tl">
              <a:rot lat="0" lon="0" rev="900000"/>
            </a:lightRig>
          </a:scene3d>
          <a:sp3d prstMaterial="powder">
            <a:bevelT w="25400" h="381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400000"/>
              </a:schemeClr>
            </a:gs>
            <a:gs pos="25000">
              <a:schemeClr val="phClr">
                <a:tint val="83000"/>
                <a:satMod val="320000"/>
              </a:schemeClr>
            </a:gs>
            <a:gs pos="100000">
              <a:schemeClr val="phClr">
                <a:shade val="15000"/>
                <a:satMod val="320000"/>
              </a:schemeClr>
            </a:gs>
          </a:gsLst>
          <a:path path="circle">
            <a:fillToRect l="10000" t="110000" r="1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0"/>
                <a:satMod val="150000"/>
              </a:schemeClr>
              <a:schemeClr val="phClr">
                <a:tint val="88000"/>
                <a:satMod val="150000"/>
              </a:schemeClr>
            </a:duotone>
          </a:blip>
          <a:tile tx="0" ty="0" sx="65000" sy="65000" flip="none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Flow</Template>
  <TotalTime>399</TotalTime>
  <Words>438</Words>
  <Application>Microsoft Macintosh PowerPoint</Application>
  <PresentationFormat>On-screen Show (4:3)</PresentationFormat>
  <Paragraphs>88</Paragraphs>
  <Slides>11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Flow</vt:lpstr>
      <vt:lpstr>PubCrawl: A Publication Search Engine</vt:lpstr>
      <vt:lpstr>Motivation</vt:lpstr>
      <vt:lpstr>Overview</vt:lpstr>
      <vt:lpstr>ACM Data</vt:lpstr>
      <vt:lpstr>Adapted PageRank</vt:lpstr>
      <vt:lpstr>PubCrawl - Overview</vt:lpstr>
      <vt:lpstr>PubCrawl - Scores</vt:lpstr>
      <vt:lpstr>PubCrawl - Ranking</vt:lpstr>
      <vt:lpstr>Preliminary Studies</vt:lpstr>
      <vt:lpstr>Conclusion</vt:lpstr>
      <vt:lpstr>Future Work</vt:lpstr>
    </vt:vector>
  </TitlesOfParts>
  <Company>Massachusetts Institute of Technology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PubCrawl: A Paper Search Engine</dc:title>
  <dc:creator>FrankLi</dc:creator>
  <cp:lastModifiedBy>Manasi Vartak</cp:lastModifiedBy>
  <cp:revision>42</cp:revision>
  <dcterms:created xsi:type="dcterms:W3CDTF">2012-05-15T01:45:42Z</dcterms:created>
  <dcterms:modified xsi:type="dcterms:W3CDTF">2012-05-16T18:19:51Z</dcterms:modified>
</cp:coreProperties>
</file>