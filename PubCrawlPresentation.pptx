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37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99CA7E7-F094-4760-8873-A5CD40D87982}" type="datetimeFigureOut">
              <a:rPr lang="en-US" smtClean="0"/>
              <a:pPr/>
              <a:t>5/15/2012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CDF2F8E-81E3-4A61-997C-E8A700E82CA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PubCrawl: A Paper Search Engine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086600" cy="1752600"/>
          </a:xfrm>
        </p:spPr>
        <p:txBody>
          <a:bodyPr/>
          <a:lstStyle/>
          <a:p>
            <a:r>
              <a:rPr lang="en-US" dirty="0" smtClean="0"/>
              <a:t>Frank Li, Abhishek Sarkar, Manasi Vartak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an academic paper search engine system</a:t>
            </a:r>
          </a:p>
          <a:p>
            <a:endParaRPr lang="en-US" dirty="0"/>
          </a:p>
          <a:p>
            <a:r>
              <a:rPr lang="en-US" dirty="0" smtClean="0"/>
              <a:t>Investigate use of PageRank in paper data set to measure paper importance</a:t>
            </a:r>
          </a:p>
          <a:p>
            <a:endParaRPr lang="en-US" dirty="0" smtClean="0"/>
          </a:p>
          <a:p>
            <a:r>
              <a:rPr lang="en-US" dirty="0" smtClean="0"/>
              <a:t>Experiment with weighting text indexing (measuring relevance) and Pagerank to improve paper rankings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Obtained full data set from ACM Digital Library</a:t>
            </a:r>
          </a:p>
          <a:p>
            <a:endParaRPr lang="en-US" dirty="0"/>
          </a:p>
          <a:p>
            <a:r>
              <a:rPr lang="en-US" dirty="0" smtClean="0"/>
              <a:t>Used Apache Lucene for text indexing and an adapted PageRank</a:t>
            </a:r>
          </a:p>
          <a:p>
            <a:endParaRPr lang="en-US" dirty="0"/>
          </a:p>
          <a:p>
            <a:r>
              <a:rPr lang="en-US" dirty="0" smtClean="0"/>
              <a:t>Built PubCrawl, an online paper search engine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ACM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223,800 papers</a:t>
            </a:r>
          </a:p>
          <a:p>
            <a:endParaRPr lang="en-US" dirty="0"/>
          </a:p>
          <a:p>
            <a:r>
              <a:rPr lang="en-US" dirty="0" smtClean="0"/>
              <a:t>Forms directed graph with paper nodes and citations as edges</a:t>
            </a:r>
          </a:p>
          <a:p>
            <a:endParaRPr lang="en-US" dirty="0"/>
          </a:p>
          <a:p>
            <a:r>
              <a:rPr lang="en-US" dirty="0" smtClean="0"/>
              <a:t>Complication characteristics:</a:t>
            </a:r>
          </a:p>
          <a:p>
            <a:pPr lvl="1"/>
            <a:r>
              <a:rPr lang="en-US" dirty="0" smtClean="0"/>
              <a:t>Cycles (affects PageRank function)</a:t>
            </a:r>
          </a:p>
          <a:p>
            <a:pPr lvl="1"/>
            <a:r>
              <a:rPr lang="en-US" smtClean="0"/>
              <a:t>Components (affects node initial scores)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2" descr="ACM D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295400"/>
            <a:ext cx="4771563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Adapted 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dirty="0" smtClean="0"/>
              <a:t>Score S of paper p is:</a:t>
            </a:r>
          </a:p>
          <a:p>
            <a:pPr>
              <a:buNone/>
            </a:pPr>
            <a:endParaRPr lang="en-US" sz="1100" dirty="0" smtClean="0"/>
          </a:p>
          <a:p>
            <a:pPr>
              <a:buNone/>
            </a:pPr>
            <a:r>
              <a:rPr lang="en-US" sz="5700" dirty="0" smtClean="0"/>
              <a:t>S(p) = n (      + d ( ∑          +E(p)))</a:t>
            </a:r>
          </a:p>
          <a:p>
            <a:endParaRPr lang="en-US" sz="4400" dirty="0"/>
          </a:p>
          <a:p>
            <a:pPr>
              <a:buNone/>
            </a:pPr>
            <a:r>
              <a:rPr lang="en-US" sz="3400" dirty="0" smtClean="0"/>
              <a:t>Variables: </a:t>
            </a:r>
          </a:p>
          <a:p>
            <a:pPr>
              <a:buNone/>
            </a:pPr>
            <a:r>
              <a:rPr lang="en-US" sz="3400" dirty="0" smtClean="0"/>
              <a:t>n – normalization factor</a:t>
            </a:r>
          </a:p>
          <a:p>
            <a:pPr>
              <a:buNone/>
            </a:pPr>
            <a:r>
              <a:rPr lang="en-US" sz="3400" dirty="0" smtClean="0"/>
              <a:t>d – damping factor</a:t>
            </a:r>
          </a:p>
          <a:p>
            <a:pPr>
              <a:buNone/>
            </a:pPr>
            <a:r>
              <a:rPr lang="en-US" sz="3400" dirty="0" smtClean="0"/>
              <a:t>N – total number of papers</a:t>
            </a:r>
          </a:p>
          <a:p>
            <a:pPr>
              <a:buNone/>
            </a:pPr>
            <a:r>
              <a:rPr lang="en-US" sz="3400" dirty="0" smtClean="0"/>
              <a:t>C – set of papers that cite p</a:t>
            </a:r>
          </a:p>
          <a:p>
            <a:pPr>
              <a:buNone/>
            </a:pPr>
            <a:r>
              <a:rPr lang="en-US" sz="3400" dirty="0" smtClean="0"/>
              <a:t>D() – degree function (number of citations)</a:t>
            </a:r>
          </a:p>
          <a:p>
            <a:pPr>
              <a:buNone/>
            </a:pPr>
            <a:r>
              <a:rPr lang="en-US" sz="3400" dirty="0" smtClean="0"/>
              <a:t>E() – score source function</a:t>
            </a:r>
            <a:endParaRPr lang="en-US" sz="3400" dirty="0"/>
          </a:p>
        </p:txBody>
      </p:sp>
      <p:sp>
        <p:nvSpPr>
          <p:cNvPr id="5" name="TextBox 4"/>
          <p:cNvSpPr txBox="1"/>
          <p:nvPr/>
        </p:nvSpPr>
        <p:spPr>
          <a:xfrm>
            <a:off x="2514600" y="2351782"/>
            <a:ext cx="106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smtClean="0"/>
              <a:t>1 - d</a:t>
            </a:r>
          </a:p>
          <a:p>
            <a:r>
              <a:rPr lang="en-US" sz="3200" dirty="0" smtClean="0"/>
              <a:t>  N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5029200" y="2351782"/>
            <a:ext cx="106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smtClean="0"/>
              <a:t>S(c) </a:t>
            </a:r>
          </a:p>
          <a:p>
            <a:r>
              <a:rPr lang="en-US" sz="3200" dirty="0" smtClean="0"/>
              <a:t>D(c)</a:t>
            </a:r>
            <a:endParaRPr lang="en-US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4267200" y="2895600"/>
            <a:ext cx="83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</a:t>
            </a:r>
            <a:r>
              <a:rPr lang="el-GR" sz="3200" dirty="0" smtClean="0"/>
              <a:t>ϵ</a:t>
            </a:r>
            <a:r>
              <a:rPr lang="en-US" sz="3200" dirty="0" smtClean="0"/>
              <a:t>C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Lucene 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PubCrawl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</TotalTime>
  <Words>185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PubCrawl: A Paper Search Engine</vt:lpstr>
      <vt:lpstr>Motivation</vt:lpstr>
      <vt:lpstr>Overview</vt:lpstr>
      <vt:lpstr>ACM Data</vt:lpstr>
      <vt:lpstr>Adapted PageRank</vt:lpstr>
      <vt:lpstr>Lucene Indexing</vt:lpstr>
      <vt:lpstr>PubCrawl</vt:lpstr>
      <vt:lpstr>User Study</vt:lpstr>
      <vt:lpstr>Conclusion</vt:lpstr>
    </vt:vector>
  </TitlesOfParts>
  <Company>Massachusetts Institute of Technology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PubCrawl: A Paper Search Engine</dc:title>
  <dc:creator>FrankLi</dc:creator>
  <cp:lastModifiedBy>FrankLi</cp:lastModifiedBy>
  <cp:revision>7</cp:revision>
  <dcterms:created xsi:type="dcterms:W3CDTF">2012-05-15T01:45:42Z</dcterms:created>
  <dcterms:modified xsi:type="dcterms:W3CDTF">2012-05-15T17:46:42Z</dcterms:modified>
</cp:coreProperties>
</file>